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59" r:id="rId5"/>
    <p:sldId id="265" r:id="rId6"/>
    <p:sldId id="261" r:id="rId7"/>
    <p:sldId id="260" r:id="rId8"/>
    <p:sldId id="263" r:id="rId9"/>
    <p:sldId id="262" r:id="rId10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150" d="100"/>
          <a:sy n="150" d="100"/>
        </p:scale>
        <p:origin x="70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4465E75-CEE5-B202-8CDC-3EE4C0938C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AF1A8004-E0E8-F9EB-5636-3BCDD21AEB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488C0192-90D9-4E37-E922-2A12B51FC8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5B847632-4060-938A-F1B1-796E1DD7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75E4D1D-3EE4-4C30-37F6-F58E20A43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862853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6F8068E-4DC1-7B94-2D6A-30D0F5FA7E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5F59A04-CF6F-1A3F-5A64-D8ACABEA71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7364C24-864D-907C-AAC8-132E2B245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9EC540B-5238-A813-5D40-41DDFA87E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0D171AC-50F3-3718-D9FF-1A9F00B81F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7658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592E104-0AA8-0E11-A720-BD2DCB2EC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56E9185-853B-4957-1019-29A8167FE0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67FE99A-4DBD-9D49-C6D1-B3C5B8AD9D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3E77E3EC-C2EE-AAD2-D728-1A012010AF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C6B425-B10E-539F-1E19-8C8C950CE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4470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859C4C2-4673-A15D-1BAF-D9EE0498C9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7313C150-E393-FF03-9A4B-B9F25E9448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BEE95432-A667-0D02-73FF-82DAD1B779B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37EEEC6-044C-6966-EBE7-DC5A6EBA96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A223081-A7BB-E7D6-AAE5-B9B6EC4EAC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16A0DE22-6FA1-EB21-CE28-B8E0B8F2C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2461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B943BB-F0EB-C95A-A55A-B68C0A6FC0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DE6A0FF-DD51-9BD4-E1AB-7507A47ADC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6852767-3AF6-D262-740E-155962C49D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7FA2FCCF-A2C3-ACD4-94FA-426D597884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E60C224B-D047-BBA4-BAF9-A27991FCE07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07F91570-2B53-9FDE-DA1A-1ACDD3B0DC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840B73C8-DD50-F180-EB68-2443E22A76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7C4FFE29-D45F-D3BD-A716-D23FBF370D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5841052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614EFD5-AE1D-3228-46C4-4A29CF0FBE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6408AE0F-AC66-1622-D46F-A90C6F555F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C78CCB2F-A645-3750-67F5-42F6928E01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6F65BF79-01D0-D1AD-04CC-22719A8328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77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F8B62186-347E-1FA8-9A10-77272E416D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A47495EF-FCD9-3557-8784-E87F29862D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A670A85-A71F-06AC-2A7B-CDF0B4AFC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4985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24702B6-AA35-7DB1-A449-CB723B379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66B1090-133F-8DF6-2757-3E89A8401EB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C89C197-3EA5-0151-A335-274C83E6CE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AEA97C51-C46E-264D-6374-936C5BC508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BA7BD9FC-A203-2452-E2E3-1A5845BEEA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E5BE1C1C-2205-5EA8-43DE-76CF25AA61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36525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0154D97-44F1-408D-D94B-A445EC33A5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CA9559E2-D252-1622-65F5-AFAF5622AE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6A025A79-B5F0-6E3C-6A75-93720C2663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2E0AF239-6CCB-33D2-B9DA-C63F8BE912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8CE2B0F-9BDC-5917-6FA1-FBB66D84A7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768C2801-06D6-5D70-D2A1-AEE321D01F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62787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77151941-9DD0-5C69-AD85-CF38A01901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53DD11E-64BC-E4AE-339D-D3AC74E732E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20963B2-CB9C-14BC-BB45-E5F80C8D60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05770EE-55CB-2803-86C4-E1B5F969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8BA96B2-19F0-8469-0BE6-243BD17D9E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918518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F769E2E9-0D45-A56E-6DAA-46C9B533C56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BBEF82BB-F4FA-8E01-A24D-208A8D10C7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C44ABB9-AD35-9A9E-DE20-A83A68344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FA57CA53-DCF6-4833-43C9-266003A480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B8846BD-E619-DC16-121E-3FD66327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55331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F548E862-5211-0345-498A-482CB300CC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D0510E28-4E94-E0C9-C997-68ABB40AEE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5BDDC260-8402-6262-CE0B-FBB2AD567EB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31C3B10-CDFE-4952-B809-308069336C71}" type="datetimeFigureOut">
              <a:rPr lang="fr-FR" smtClean="0"/>
              <a:t>15/10/2025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6FD4E7D-A3D4-14B3-6B3E-DF6A3ACC6FF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FE114FF-6473-CCFF-AED0-D5C324F5522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4ED3FA2-5486-42BC-AE48-60811F1B13EC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983397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304694F-44C0-155C-45EB-C6E64ABE8D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235200"/>
            <a:ext cx="9144000" cy="2387600"/>
          </a:xfrm>
        </p:spPr>
        <p:txBody>
          <a:bodyPr/>
          <a:lstStyle/>
          <a:p>
            <a:r>
              <a:rPr lang="fr-FR" u="sng" dirty="0"/>
              <a:t>DIAGNOSTIC FINANCIER TESLA</a:t>
            </a:r>
          </a:p>
        </p:txBody>
      </p:sp>
    </p:spTree>
    <p:extLst>
      <p:ext uri="{BB962C8B-B14F-4D97-AF65-F5344CB8AC3E}">
        <p14:creationId xmlns:p14="http://schemas.microsoft.com/office/powerpoint/2010/main" val="219766570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407AB1F-51BB-124E-4058-C7D38BE50B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Evolution du CA :</a:t>
            </a:r>
            <a:r>
              <a:rPr lang="fr-FR" dirty="0"/>
              <a:t>	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7015E57-E129-674E-0A62-9AF3A045D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8450" y="1825624"/>
            <a:ext cx="11817350" cy="454342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r>
              <a:rPr lang="fr-FR" sz="2600" dirty="0"/>
              <a:t>2022 : 81 milliards de dollars augmentation de 50% comparé à 2021</a:t>
            </a:r>
          </a:p>
          <a:p>
            <a:endParaRPr lang="fr-FR" sz="2600" dirty="0"/>
          </a:p>
          <a:p>
            <a:r>
              <a:rPr lang="fr-FR" sz="2600" dirty="0"/>
              <a:t>2023 : 97 milliards de dollars soit une évolution d’environ 20%</a:t>
            </a:r>
          </a:p>
          <a:p>
            <a:endParaRPr lang="fr-FR" sz="2600" dirty="0"/>
          </a:p>
          <a:p>
            <a:r>
              <a:rPr lang="fr-FR" sz="2600" dirty="0"/>
              <a:t>2024 : 98 milliards de dollars soit une augmentation de &lt;1%.</a:t>
            </a:r>
          </a:p>
          <a:p>
            <a:endParaRPr lang="fr-FR" sz="2600" dirty="0"/>
          </a:p>
          <a:p>
            <a:r>
              <a:rPr lang="fr-FR" sz="2600" dirty="0"/>
              <a:t>2025 (prévisionnel) : Réel mi-année 42 milliards</a:t>
            </a:r>
          </a:p>
          <a:p>
            <a:pPr marL="0" indent="0">
              <a:buNone/>
            </a:pPr>
            <a:r>
              <a:rPr lang="fr-FR" sz="2600" dirty="0"/>
              <a:t>			   Prévision sur l’année 94 milliards de dollars (environ -3,5%)</a:t>
            </a:r>
          </a:p>
        </p:txBody>
      </p:sp>
    </p:spTree>
    <p:extLst>
      <p:ext uri="{BB962C8B-B14F-4D97-AF65-F5344CB8AC3E}">
        <p14:creationId xmlns:p14="http://schemas.microsoft.com/office/powerpoint/2010/main" val="3569377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5656AD-D97E-BA98-6152-E3FF56E24E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0732AD6-5424-DC59-1003-3B165787A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u="sng" dirty="0"/>
              <a:t>Marge :</a:t>
            </a:r>
          </a:p>
        </p:txBody>
      </p:sp>
      <p:graphicFrame>
        <p:nvGraphicFramePr>
          <p:cNvPr id="6" name="Tableau 5">
            <a:extLst>
              <a:ext uri="{FF2B5EF4-FFF2-40B4-BE49-F238E27FC236}">
                <a16:creationId xmlns:a16="http://schemas.microsoft.com/office/drawing/2014/main" id="{02882323-E550-6557-B934-2C9F3F9D8D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63573847"/>
              </p:ext>
            </p:extLst>
          </p:nvPr>
        </p:nvGraphicFramePr>
        <p:xfrm>
          <a:off x="600075" y="1447800"/>
          <a:ext cx="1099185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950">
                  <a:extLst>
                    <a:ext uri="{9D8B030D-6E8A-4147-A177-3AD203B41FA5}">
                      <a16:colId xmlns:a16="http://schemas.microsoft.com/office/drawing/2014/main" val="302245731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280021432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4007946315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MARGE BRUTE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6897677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Année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TESLA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Concurrent BYD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24214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25,60%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353188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18,20%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31796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17,90%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18211211"/>
                  </a:ext>
                </a:extLst>
              </a:tr>
            </a:tbl>
          </a:graphicData>
        </a:graphic>
      </p:graphicFrame>
      <p:graphicFrame>
        <p:nvGraphicFramePr>
          <p:cNvPr id="9" name="Tableau 8">
            <a:extLst>
              <a:ext uri="{FF2B5EF4-FFF2-40B4-BE49-F238E27FC236}">
                <a16:creationId xmlns:a16="http://schemas.microsoft.com/office/drawing/2014/main" id="{AFC74F02-DC46-5E98-3214-AF943C956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2165307"/>
              </p:ext>
            </p:extLst>
          </p:nvPr>
        </p:nvGraphicFramePr>
        <p:xfrm>
          <a:off x="600075" y="3296920"/>
          <a:ext cx="10991850" cy="184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63950">
                  <a:extLst>
                    <a:ext uri="{9D8B030D-6E8A-4147-A177-3AD203B41FA5}">
                      <a16:colId xmlns:a16="http://schemas.microsoft.com/office/drawing/2014/main" val="1416491821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719135594"/>
                    </a:ext>
                  </a:extLst>
                </a:gridCol>
                <a:gridCol w="3663950">
                  <a:extLst>
                    <a:ext uri="{9D8B030D-6E8A-4147-A177-3AD203B41FA5}">
                      <a16:colId xmlns:a16="http://schemas.microsoft.com/office/drawing/2014/main" val="3073737262"/>
                    </a:ext>
                  </a:extLst>
                </a:gridCol>
              </a:tblGrid>
              <a:tr h="353906">
                <a:tc gridSpan="3">
                  <a:txBody>
                    <a:bodyPr/>
                    <a:lstStyle/>
                    <a:p>
                      <a:pPr algn="ctr"/>
                      <a:r>
                        <a:rPr lang="fr-FR" dirty="0"/>
                        <a:t>MARGE NETTE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fr-FR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77045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Année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TESLA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Concurrent BYD</a:t>
                      </a:r>
                    </a:p>
                  </a:txBody>
                  <a:tcPr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707533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16,80%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3,9%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312876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9,20%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581656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fr-FR" dirty="0"/>
                        <a:t>2024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7,20%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fr-FR" dirty="0"/>
                        <a:t>5,2%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75491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740347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F1C3EC1-E151-0CDB-D1C1-9F330D2A5C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Résultat Net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1F1A59D-A760-6DAB-09F1-B9372F38A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848" y="2141537"/>
            <a:ext cx="10515600" cy="34161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12,58 milliards de dollars en 2022 (+128%)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14,99 milliards de dollars en 2023 (+19%)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7,13milliards de dollars en 2024 (-52%)	</a:t>
            </a:r>
          </a:p>
        </p:txBody>
      </p:sp>
    </p:spTree>
    <p:extLst>
      <p:ext uri="{BB962C8B-B14F-4D97-AF65-F5344CB8AC3E}">
        <p14:creationId xmlns:p14="http://schemas.microsoft.com/office/powerpoint/2010/main" val="60909633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D1FE66-69A0-24D4-CD73-9EB7991B99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D774D0-CBFC-AF3C-C1B8-AEC5D95A0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Rentabilité financière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5A73A8D6-0F37-B432-70D3-2B3AEE6D293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848" y="2141537"/>
            <a:ext cx="10515600" cy="3416115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fr-FR" dirty="0"/>
              <a:t>En 2022 environ de 30%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En 2023 environ de 25,60%</a:t>
            </a:r>
          </a:p>
          <a:p>
            <a:pPr marL="0" indent="0">
              <a:buNone/>
            </a:pPr>
            <a:endParaRPr lang="fr-FR" dirty="0"/>
          </a:p>
          <a:p>
            <a:pPr marL="0" indent="0">
              <a:buNone/>
            </a:pPr>
            <a:r>
              <a:rPr lang="fr-FR" dirty="0"/>
              <a:t>En 2024 environ de 10%</a:t>
            </a:r>
          </a:p>
        </p:txBody>
      </p:sp>
    </p:spTree>
    <p:extLst>
      <p:ext uri="{BB962C8B-B14F-4D97-AF65-F5344CB8AC3E}">
        <p14:creationId xmlns:p14="http://schemas.microsoft.com/office/powerpoint/2010/main" val="42455930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BCD0C6C-1B7B-809B-F2F8-D3333B229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Trésorerie et dettes :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1A6B1C38-863D-415F-8127-96C009D647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36 milliards de dollars de trésorerie en 2024</a:t>
            </a:r>
          </a:p>
          <a:p>
            <a:endParaRPr lang="fr-FR" dirty="0"/>
          </a:p>
          <a:p>
            <a:r>
              <a:rPr lang="fr-FR" dirty="0"/>
              <a:t>Les dettes à court terme en 2024 : 28 milliards de dettes</a:t>
            </a:r>
          </a:p>
          <a:p>
            <a:endParaRPr lang="fr-FR" dirty="0"/>
          </a:p>
          <a:p>
            <a:r>
              <a:rPr lang="fr-FR" dirty="0"/>
              <a:t>Les dettes à long terme en 2024 :  19 milliards de dettes</a:t>
            </a:r>
          </a:p>
          <a:p>
            <a:endParaRPr lang="fr-FR" dirty="0"/>
          </a:p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24858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C684B37-2566-A809-D596-9553C22A9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Investissements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FF8C8BE-0C1B-0207-5433-8DF3D2EA4B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7478" y="2506662"/>
            <a:ext cx="10515600" cy="1117484"/>
          </a:xfrm>
        </p:spPr>
        <p:txBody>
          <a:bodyPr>
            <a:normAutofit/>
          </a:bodyPr>
          <a:lstStyle/>
          <a:p>
            <a:r>
              <a:rPr lang="fr-FR" dirty="0"/>
              <a:t>En 2024, 17 milliards de dollars investis</a:t>
            </a:r>
          </a:p>
          <a:p>
            <a:r>
              <a:rPr lang="fr-FR" dirty="0"/>
              <a:t>Prévisions 2025,2026 : Supérieur à 17 milliards</a:t>
            </a:r>
          </a:p>
        </p:txBody>
      </p:sp>
    </p:spTree>
    <p:extLst>
      <p:ext uri="{BB962C8B-B14F-4D97-AF65-F5344CB8AC3E}">
        <p14:creationId xmlns:p14="http://schemas.microsoft.com/office/powerpoint/2010/main" val="151297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8C010E2-4A42-E4F2-13BC-50FD97147A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u="sng" dirty="0"/>
              <a:t>Perspectives sur 5 ans : 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03251E5D-1F6F-D381-948C-258BBF357D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627312"/>
            <a:ext cx="10515600" cy="1603375"/>
          </a:xfrm>
        </p:spPr>
        <p:txBody>
          <a:bodyPr>
            <a:normAutofit fontScale="85000" lnSpcReduction="20000"/>
          </a:bodyPr>
          <a:lstStyle/>
          <a:p>
            <a:r>
              <a:rPr lang="fr-FR" dirty="0"/>
              <a:t>Diversification de la gamme automobile </a:t>
            </a:r>
          </a:p>
          <a:p>
            <a:endParaRPr lang="fr-FR" dirty="0"/>
          </a:p>
          <a:p>
            <a:r>
              <a:rPr lang="fr-FR" dirty="0"/>
              <a:t>Nouveau DAS : Vente de panneaux solaires</a:t>
            </a:r>
          </a:p>
          <a:p>
            <a:pPr marL="0" indent="0">
              <a:buNone/>
            </a:pPr>
            <a:r>
              <a:rPr lang="fr-FR" dirty="0"/>
              <a:t>		      Méga Batterie (Notamment pour les serveurs)</a:t>
            </a:r>
          </a:p>
        </p:txBody>
      </p:sp>
    </p:spTree>
    <p:extLst>
      <p:ext uri="{BB962C8B-B14F-4D97-AF65-F5344CB8AC3E}">
        <p14:creationId xmlns:p14="http://schemas.microsoft.com/office/powerpoint/2010/main" val="17852978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8B2A297-447A-F139-396C-2EA83529C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8171" y="2651125"/>
            <a:ext cx="2339898" cy="1325563"/>
          </a:xfrm>
        </p:spPr>
        <p:txBody>
          <a:bodyPr/>
          <a:lstStyle/>
          <a:p>
            <a:r>
              <a:rPr lang="fr-FR" u="sng" dirty="0"/>
              <a:t>Synthèse</a:t>
            </a:r>
          </a:p>
        </p:txBody>
      </p:sp>
    </p:spTree>
    <p:extLst>
      <p:ext uri="{BB962C8B-B14F-4D97-AF65-F5344CB8AC3E}">
        <p14:creationId xmlns:p14="http://schemas.microsoft.com/office/powerpoint/2010/main" val="1746917415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CDEBE5C4808DA43A9869E2FB4CBAEE6" ma:contentTypeVersion="7" ma:contentTypeDescription="Crée un document." ma:contentTypeScope="" ma:versionID="ec721a2edeaa82f3477cdde480af55d6">
  <xsd:schema xmlns:xsd="http://www.w3.org/2001/XMLSchema" xmlns:xs="http://www.w3.org/2001/XMLSchema" xmlns:p="http://schemas.microsoft.com/office/2006/metadata/properties" xmlns:ns2="db156d11-c3e3-4b36-ab5f-95cf67435334" targetNamespace="http://schemas.microsoft.com/office/2006/metadata/properties" ma:root="true" ma:fieldsID="fd7344f9c87efa8fad3e8380aa9239b8" ns2:_="">
    <xsd:import namespace="db156d11-c3e3-4b36-ab5f-95cf67435334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56d11-c3e3-4b36-ab5f-95cf6743533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A636009B-2AF4-4FA2-B7F4-8E321347C5C7}"/>
</file>

<file path=customXml/itemProps2.xml><?xml version="1.0" encoding="utf-8"?>
<ds:datastoreItem xmlns:ds="http://schemas.openxmlformats.org/officeDocument/2006/customXml" ds:itemID="{9FE45AF2-2DD1-4A5B-9FB8-520C12ADC645}"/>
</file>

<file path=customXml/itemProps3.xml><?xml version="1.0" encoding="utf-8"?>
<ds:datastoreItem xmlns:ds="http://schemas.openxmlformats.org/officeDocument/2006/customXml" ds:itemID="{4C8BFF09-087E-4BC3-BB94-610EBC9816D2}"/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246</Words>
  <Application>Microsoft Office PowerPoint</Application>
  <PresentationFormat>Grand écran</PresentationFormat>
  <Paragraphs>68</Paragraphs>
  <Slides>9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9</vt:i4>
      </vt:variant>
    </vt:vector>
  </HeadingPairs>
  <TitlesOfParts>
    <vt:vector size="13" baseType="lpstr">
      <vt:lpstr>Aptos</vt:lpstr>
      <vt:lpstr>Aptos Display</vt:lpstr>
      <vt:lpstr>Arial</vt:lpstr>
      <vt:lpstr>Thème Office</vt:lpstr>
      <vt:lpstr>DIAGNOSTIC FINANCIER TESLA</vt:lpstr>
      <vt:lpstr>Evolution du CA : </vt:lpstr>
      <vt:lpstr>Marge :</vt:lpstr>
      <vt:lpstr>Résultat Net : </vt:lpstr>
      <vt:lpstr>Rentabilité financière</vt:lpstr>
      <vt:lpstr>Trésorerie et dettes :</vt:lpstr>
      <vt:lpstr>Investissements</vt:lpstr>
      <vt:lpstr>Perspectives sur 5 ans : </vt:lpstr>
      <vt:lpstr>Synthèse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CHAVES Hugo</dc:creator>
  <cp:lastModifiedBy>CHAVES Hugo</cp:lastModifiedBy>
  <cp:revision>10</cp:revision>
  <dcterms:created xsi:type="dcterms:W3CDTF">2025-10-15T07:38:06Z</dcterms:created>
  <dcterms:modified xsi:type="dcterms:W3CDTF">2025-10-15T19:55:40Z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0x0101009CDEBE5C4808DA43A9869E2FB4CBAEE6</vt:lpwstr>
  </property>
</Properties>
</file>